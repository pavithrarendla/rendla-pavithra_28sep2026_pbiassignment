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0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03A"/>
                </a:solidFill>
                <a:latin typeface="Calibri"/>
              </a:rPr>
              <a:t>Sales by year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139A8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 (to Mar 15)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11.69</c:v>
                </c:pt>
                <c:pt idx="1">
                  <c:v>11.57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8D-47F3-B5B6-B289D17B2C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03A"/>
                </a:solidFill>
                <a:latin typeface="Calibri"/>
              </a:rPr>
              <a:t>Monthly sales ($K)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ln w="31750" cap="flat">
              <a:solidFill>
                <a:srgbClr val="5A667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5A6675"/>
              </a:solidFill>
              <a:ln w="9525" cap="flat">
                <a:solidFill>
                  <a:srgbClr val="5A6675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1025</c:v>
                </c:pt>
                <c:pt idx="1">
                  <c:v>990</c:v>
                </c:pt>
                <c:pt idx="2">
                  <c:v>917</c:v>
                </c:pt>
                <c:pt idx="3">
                  <c:v>954</c:v>
                </c:pt>
                <c:pt idx="4">
                  <c:v>1011</c:v>
                </c:pt>
                <c:pt idx="5">
                  <c:v>1050</c:v>
                </c:pt>
                <c:pt idx="6">
                  <c:v>893</c:v>
                </c:pt>
                <c:pt idx="7">
                  <c:v>923</c:v>
                </c:pt>
                <c:pt idx="8">
                  <c:v>993</c:v>
                </c:pt>
                <c:pt idx="9">
                  <c:v>917</c:v>
                </c:pt>
                <c:pt idx="10">
                  <c:v>1019</c:v>
                </c:pt>
                <c:pt idx="11">
                  <c:v>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AE-4519-8DAC-07DC67C236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</c:v>
                </c:pt>
              </c:strCache>
            </c:strRef>
          </c:tx>
          <c:spPr>
            <a:ln w="31750" cap="flat">
              <a:solidFill>
                <a:srgbClr val="139A8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39A8E"/>
              </a:solidFill>
              <a:ln w="9525" cap="flat">
                <a:solidFill>
                  <a:srgbClr val="139A8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945</c:v>
                </c:pt>
                <c:pt idx="1">
                  <c:v>913</c:v>
                </c:pt>
                <c:pt idx="2">
                  <c:v>984</c:v>
                </c:pt>
                <c:pt idx="3">
                  <c:v>985</c:v>
                </c:pt>
                <c:pt idx="4">
                  <c:v>866</c:v>
                </c:pt>
                <c:pt idx="5">
                  <c:v>1017</c:v>
                </c:pt>
                <c:pt idx="6">
                  <c:v>938</c:v>
                </c:pt>
                <c:pt idx="7">
                  <c:v>888</c:v>
                </c:pt>
                <c:pt idx="8">
                  <c:v>960</c:v>
                </c:pt>
                <c:pt idx="9">
                  <c:v>982</c:v>
                </c:pt>
                <c:pt idx="10">
                  <c:v>1035</c:v>
                </c:pt>
                <c:pt idx="11">
                  <c:v>1053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AE-4519-8DAC-07DC67C236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2023</c:v>
                </c:pt>
              </c:strCache>
            </c:strRef>
          </c:tx>
          <c:spPr>
            <a:ln w="31750" cap="flat">
              <a:solidFill>
                <a:srgbClr val="F2A41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2A413"/>
              </a:solidFill>
              <a:ln w="9525" cap="flat">
                <a:solidFill>
                  <a:srgbClr val="F2A41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977</c:v>
                </c:pt>
                <c:pt idx="2">
                  <c:v>528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3AE-4519-8DAC-07DC67C23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0"/>
          <c:min val="40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67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03A"/>
                </a:solidFill>
                <a:latin typeface="Calibri"/>
              </a:rPr>
              <a:t>Top 10 products by gross profit ($K)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 ($K)</c:v>
                </c:pt>
              </c:strCache>
            </c:strRef>
          </c:tx>
          <c:spPr>
            <a:solidFill>
              <a:srgbClr val="139A8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Product 96</c:v>
                </c:pt>
                <c:pt idx="1">
                  <c:v>Product 29</c:v>
                </c:pt>
                <c:pt idx="2">
                  <c:v>Product 34</c:v>
                </c:pt>
                <c:pt idx="3">
                  <c:v>Product 31</c:v>
                </c:pt>
                <c:pt idx="4">
                  <c:v>Product 51</c:v>
                </c:pt>
                <c:pt idx="5">
                  <c:v>Product 64</c:v>
                </c:pt>
                <c:pt idx="6">
                  <c:v>Product 47</c:v>
                </c:pt>
                <c:pt idx="7">
                  <c:v>Product 79</c:v>
                </c:pt>
                <c:pt idx="8">
                  <c:v>Product 41</c:v>
                </c:pt>
                <c:pt idx="9">
                  <c:v>Product 28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178</c:v>
                </c:pt>
                <c:pt idx="1">
                  <c:v>187</c:v>
                </c:pt>
                <c:pt idx="2">
                  <c:v>184</c:v>
                </c:pt>
                <c:pt idx="3">
                  <c:v>197</c:v>
                </c:pt>
                <c:pt idx="4">
                  <c:v>197</c:v>
                </c:pt>
                <c:pt idx="5">
                  <c:v>203</c:v>
                </c:pt>
                <c:pt idx="6">
                  <c:v>206</c:v>
                </c:pt>
                <c:pt idx="7">
                  <c:v>209</c:v>
                </c:pt>
                <c:pt idx="8">
                  <c:v>214</c:v>
                </c:pt>
                <c:pt idx="9">
                  <c:v>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E4-4791-8FD4-2B27C038BC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03A"/>
                </a:solidFill>
                <a:latin typeface="Calibri"/>
              </a:rPr>
              <a:t>Sales by county, top 6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1220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Alameda</c:v>
                </c:pt>
                <c:pt idx="1">
                  <c:v>Riverside</c:v>
                </c:pt>
                <c:pt idx="2">
                  <c:v>San Bernardino</c:v>
                </c:pt>
                <c:pt idx="3">
                  <c:v>San Diego</c:v>
                </c:pt>
                <c:pt idx="4">
                  <c:v>Orange</c:v>
                </c:pt>
                <c:pt idx="5">
                  <c:v>Los Angeles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1.46</c:v>
                </c:pt>
                <c:pt idx="1">
                  <c:v>2.08</c:v>
                </c:pt>
                <c:pt idx="2">
                  <c:v>2.41</c:v>
                </c:pt>
                <c:pt idx="3">
                  <c:v>2.46</c:v>
                </c:pt>
                <c:pt idx="4">
                  <c:v>2.6</c:v>
                </c:pt>
                <c:pt idx="5">
                  <c:v>5.63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E4-41BF-9D72-227C99545E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03A"/>
                </a:solidFill>
                <a:latin typeface="Calibri"/>
              </a:rPr>
              <a:t>Budget vs. actual, 74 locations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$M</c:v>
                </c:pt>
              </c:strCache>
            </c:strRef>
          </c:tx>
          <c:spPr>
            <a:solidFill>
              <a:srgbClr val="F2A41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Annual budget</c:v>
                </c:pt>
                <c:pt idx="1">
                  <c:v>2021 actual</c:v>
                </c:pt>
                <c:pt idx="2">
                  <c:v>2022 actual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3.21</c:v>
                </c:pt>
                <c:pt idx="1">
                  <c:v>11.69</c:v>
                </c:pt>
                <c:pt idx="2">
                  <c:v>11.57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B6-4FA8-91A3-5DFCF8184A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377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52360" y="-1417320"/>
            <a:ext cx="2926080" cy="2926080"/>
          </a:xfrm>
          <a:prstGeom prst="ellipse">
            <a:avLst/>
          </a:prstGeom>
          <a:solidFill>
            <a:srgbClr val="1E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52360" y="1051560"/>
            <a:ext cx="2926080" cy="2926080"/>
          </a:xfrm>
          <a:prstGeom prst="ellipse">
            <a:avLst/>
          </a:prstGeom>
          <a:solidFill>
            <a:srgbClr val="0D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BD5E1"/>
                </a:solidFill>
                <a:latin typeface="Aptos"/>
              </a:rPr>
              <a:t>POWER BI  •  BUSINESS ANALYTICS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6949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Retail Sales Performance
&amp; Budget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7040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How the business is performing, where revenue and profit come from,
and where management should focus.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01568"/>
            <a:ext cx="5303520" cy="914400"/>
          </a:xfrm>
          <a:prstGeom prst="roundRect">
            <a:avLst/>
          </a:prstGeom>
          <a:solidFill>
            <a:srgbClr val="16233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530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2300090355  RENDLA PAVITHRA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31920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tos"/>
              </a:rPr>
              <a:t>10,889 orders  •  Jan 2021 – Mar 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90288"/>
            <a:ext cx="1627632" cy="566928"/>
          </a:xfrm>
          <a:prstGeom prst="roundRect">
            <a:avLst/>
          </a:prstGeom>
          <a:solidFill>
            <a:srgbClr val="16233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690872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$25.66M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928616"/>
            <a:ext cx="140817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  <a:latin typeface="Aptos"/>
              </a:rPr>
              <a:t>TOTAL 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87168" y="4590288"/>
            <a:ext cx="1627632" cy="566928"/>
          </a:xfrm>
          <a:prstGeom prst="roundRect">
            <a:avLst/>
          </a:prstGeom>
          <a:solidFill>
            <a:srgbClr val="16233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4690872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32.5%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4928616"/>
            <a:ext cx="140817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  <a:latin typeface="Aptos"/>
              </a:rPr>
              <a:t>PROFIT MARGIN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4590288"/>
            <a:ext cx="1627632" cy="566928"/>
          </a:xfrm>
          <a:prstGeom prst="roundRect">
            <a:avLst/>
          </a:prstGeom>
          <a:solidFill>
            <a:srgbClr val="16233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4690872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10,889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928616"/>
            <a:ext cx="140817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  <a:latin typeface="Aptos"/>
              </a:rPr>
              <a:t>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3542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BUSINESS
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7266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Managers rely on manual Excel reports, so key questions go unanswered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834640" cy="3291840"/>
          </a:xfrm>
          <a:prstGeom prst="roundRect">
            <a:avLst>
              <a:gd name="adj" fmla="val 2581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“How is our business performing, where are we generating the most revenue and profit, and where should management focus?”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20440" y="12801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703320" y="14081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Sales visibility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719072"/>
            <a:ext cx="2240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No consolidated view of revenue, orders and margin across 3 years.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2801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46520" y="14081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profitability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719072"/>
            <a:ext cx="2240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Top sellers and thin-margin products are not separated.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20440" y="2971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703320" y="30998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3410712"/>
            <a:ext cx="2240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Buying patterns and concentration risk go unmeasured.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2971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46520" y="30998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Budget tracking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410712"/>
            <a:ext cx="2240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Actual vs. planned performance is rarely monitored.</a:t>
            </a:r>
            <a:endParaRPr lang="en-US" sz="1150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537960"/>
            <a:ext cx="111556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194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7266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Three yearly sales tables were cleaned and appended into one fact table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457200" y="136245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10,889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562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sales transactions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48256" y="123444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C2F4F"/>
          </a:solidFill>
          <a:ln w="12700">
            <a:solidFill>
              <a:srgbClr val="1C2F4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048256" y="136245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048256" y="18562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39312" y="123444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639312" y="136245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18562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30368" y="123444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C2F4F"/>
          </a:solidFill>
          <a:ln w="12700">
            <a:solidFill>
              <a:srgbClr val="1C2F4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230368" y="136245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509 / 801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230368" y="18562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customers who bought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21424" y="123444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21424" y="136245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821424" y="18562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salespeople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40080" y="2505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Power Query steps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8346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Import 9 sheets; profile types, nulls, keys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Append 2021, 2022, 2023 into Fact_Sales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Standardize names; set data types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Drop unused columns (blank Budgeting cols)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Add Sales, Cost and Profit columns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37744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4846320" y="2505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Data-quality findings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28346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No duplicate order IDs and no nulls in sales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2023 covers Jan 1 – Mar 15 only (partial year)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All 74 locations are in California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Budget location names do not match the Locations table for the same ID (0 of 74)</a:t>
            </a:r>
            <a:endParaRPr 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6537960"/>
            <a:ext cx="111556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194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7266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A star schema keeps every relationship simple and filterable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645920" y="1645920"/>
            <a:ext cx="1554480" cy="1417320"/>
          </a:xfrm>
          <a:prstGeom prst="line">
            <a:avLst/>
          </a:prstGeom>
          <a:noFill/>
          <a:ln w="19050">
            <a:solidFill>
              <a:srgbClr val="5A667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V="1">
            <a:off x="3200400" y="1645920"/>
            <a:ext cx="1371600" cy="1417320"/>
          </a:xfrm>
          <a:prstGeom prst="line">
            <a:avLst/>
          </a:prstGeom>
          <a:noFill/>
          <a:ln w="19050">
            <a:solidFill>
              <a:srgbClr val="5A667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280160" y="3017520"/>
            <a:ext cx="1920240" cy="45720"/>
          </a:xfrm>
          <a:prstGeom prst="line">
            <a:avLst/>
          </a:prstGeom>
          <a:noFill/>
          <a:ln w="19050">
            <a:solidFill>
              <a:srgbClr val="5A667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 flipV="1">
            <a:off x="3200400" y="3017520"/>
            <a:ext cx="1737360" cy="45720"/>
          </a:xfrm>
          <a:prstGeom prst="line">
            <a:avLst/>
          </a:prstGeom>
          <a:noFill/>
          <a:ln w="19050">
            <a:solidFill>
              <a:srgbClr val="5A667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200400" y="3063240"/>
            <a:ext cx="91440" cy="1188720"/>
          </a:xfrm>
          <a:prstGeom prst="line">
            <a:avLst/>
          </a:prstGeom>
          <a:noFill/>
          <a:ln w="19050">
            <a:solidFill>
              <a:srgbClr val="5A667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13258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39A8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22960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3258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39A8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749040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39A8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57200" y="2788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063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Location 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26974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39A8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114800" y="2788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Dim_Salesperson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3063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Salesperson 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39319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39A8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2468880" y="4023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4297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Date (marked)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2697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12203A"/>
          </a:solidFill>
          <a:ln w="25400">
            <a:solidFill>
              <a:srgbClr val="F2A41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237744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3108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Qty · Price · Order Date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132588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30936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178308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One-to-many, single-direction filters from each dimension to the fact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Dim_Date marked as the official date table; months sorted by month number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Budget related through Location ID</a:t>
            </a:r>
            <a:endParaRPr lang="en-US" sz="1150" dirty="0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6537960"/>
            <a:ext cx="111556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2194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7266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DAX measures turn the model into KPIs, comparisons and rankings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2788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21792" y="1353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Core &amp; profitability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9164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Total Sales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SUMX(Fact_Sales, Qty * Price)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Gross Margin %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DIVIDE([Gross Profit], [Total Sales])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AOV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DIVIDE([Total Sales], [Total Orders])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1234440"/>
            <a:ext cx="2651760" cy="2788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410712" y="1353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Time intelligence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10712" y="169164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YTD Sales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TOTALYTD([Total Sales], Dim_Date[Date])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PY Sales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CALCULATE([Total Sales],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SAMEPERIODLASTYEAR(Dim_Date[Date]))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YoY %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DIVIDE([Total Sales]-[PY Sales], [PY Sales])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234440"/>
            <a:ext cx="2651760" cy="2788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199632" y="1353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Budget &amp; ranking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99632" y="169164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Variance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[Total Sales] - [Budget]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Achievement %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DIVIDE([Total Sales], [Budget])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Rank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Courier New" pitchFamily="34" charset="-122"/>
                <a:cs typeface="Courier New" pitchFamily="34" charset="-120"/>
              </a:rPr>
              <a:t>RANKX(ALL(Dim_Product), [Total Sales])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Calculated columns hold row-level values (line sales, cost). Measures handle everything that must respond to slicers.</a:t>
            </a:r>
            <a:endParaRPr lang="en-US" sz="115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6537960"/>
            <a:ext cx="111556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94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7266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A steady $11.6M-a-year business with a stable 32.5% margin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457200" y="131673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$25.66M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30552" y="11887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130552" y="131673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$8.34M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130552" y="181051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03904" y="11887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39A8E"/>
          </a:solidFill>
          <a:ln w="12700">
            <a:solidFill>
              <a:srgbClr val="139A8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803904" y="131673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32.5%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803904" y="181051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77256" y="11887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477256" y="131673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10,889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477256" y="181051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50608" y="11887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150608" y="131673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$2,357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150608" y="181051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286000"/>
            <a:ext cx="47548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graphicFrame>
        <p:nvGraphicFramePr>
          <p:cNvPr id="20" name="Chart 0"/>
          <p:cNvGraphicFramePr/>
          <p:nvPr/>
        </p:nvGraphicFramePr>
        <p:xfrm>
          <a:off x="548640" y="2331720"/>
          <a:ext cx="4572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5394960" y="22860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577840" y="2414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Like-for-like, Jan 1 – Mar 15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577840" y="2724912"/>
            <a:ext cx="2926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2021: $2.47M   2022: $2.32M   2023: $2.40M. The latest quarter is +3.7% vs 2022, so the raw −79% drop is only a partial year.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394960" y="379476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5577840" y="3922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Margin never moves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0" y="4233672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32.6%, 32.5%, 32.5% for 2021, 2022 and 2023.</a:t>
            </a:r>
            <a:endParaRPr lang="en-US" sz="1150" dirty="0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6537960"/>
            <a:ext cx="111556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2194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7266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Demand is flat year over year, with a modest Q4 lift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graphicFrame>
        <p:nvGraphicFramePr>
          <p:cNvPr id="5" name="Chart 0"/>
          <p:cNvGraphicFramePr/>
          <p:nvPr/>
        </p:nvGraphicFramePr>
        <p:xfrm>
          <a:off x="548640" y="123444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18872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035040" y="1316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Peaks and troughs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6276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Highest: Nov, Dec and Jun. Lowest: Jul and Aug, the summer dip.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52160" y="24231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035040" y="2551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Best quarter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286207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Q4 2022 at $3.07M. 2022 finished −1.1% vs 2021.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52160" y="356616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035040" y="3694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Not a real drop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4005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March 2023 looks low only because data ends on Mar 15.</a:t>
            </a:r>
            <a:endParaRPr lang="en-US" sz="115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6537960"/>
            <a:ext cx="111556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94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7266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Profit comes from margin mix, not just sales volume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graphicFrame>
        <p:nvGraphicFramePr>
          <p:cNvPr id="5" name="Chart 0"/>
          <p:cNvGraphicFramePr/>
          <p:nvPr/>
        </p:nvGraphicFramePr>
        <p:xfrm>
          <a:off x="548640" y="1234440"/>
          <a:ext cx="43891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18872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5394960" y="1316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Big sellers, thin margins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627632"/>
            <a:ext cx="31089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84 ($529K, 17%), Product 66 (18%) and Product 4 (15%) sell well but keep little profit. 15 of 101 products are under 20%.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12080" y="288036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394960" y="30083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Best revenue ≠ best profit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3319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63 leads revenue ($628K) at 28% margin. Product 28 leads profit ($248K) at 41%.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212080" y="388620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394960" y="4014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No customer dependency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432511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Top 10 customers = 5.4% of sales; 155 of 509 buyers deliver half.</a:t>
            </a:r>
            <a:endParaRPr lang="en-US" sz="115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6537960"/>
            <a:ext cx="111556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94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7266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Sales spread widely, but population does not drive them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graphicFrame>
        <p:nvGraphicFramePr>
          <p:cNvPr id="5" name="Chart 0"/>
          <p:cNvGraphicFramePr/>
          <p:nvPr/>
        </p:nvGraphicFramePr>
        <p:xfrm>
          <a:off x="548640" y="1234440"/>
          <a:ext cx="3840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18872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4846320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Growth opportunity: big cities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627632"/>
            <a:ext cx="3657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Sales vs. population correlation is only 0.07. Los Angeles (3.97M residents) sells $382K, about $96 per 1,000 people, vs. $575 in Fresno.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297180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846320" y="3099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Even, healthy sales team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3410712"/>
            <a:ext cx="3657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45 reps, margins all within 31–34%. Kenneth Bradley leads sales ($679K) and profit ($227K); Ryan Welch has the most orders (273).</a:t>
            </a:r>
            <a:endParaRPr lang="en-US" sz="115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6537960"/>
            <a:ext cx="111556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194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7266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The budget cannot be trusted yet: actuals run about 3.6x plan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graphicFrame>
        <p:nvGraphicFramePr>
          <p:cNvPr id="5" name="Chart 0"/>
          <p:cNvGraphicFramePr/>
          <p:nvPr/>
        </p:nvGraphicFramePr>
        <p:xfrm>
          <a:off x="548640" y="1234440"/>
          <a:ext cx="3840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1887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4846320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Every location beats budget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6276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Achievement ranges from 1.7x to 8.5x per location, so no site misses plan.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23774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846320" y="2505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Data integrity flag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2816352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Budget names do not match Locations for the same ID, and 23 budget locations have no sales.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36118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846320" y="3739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405079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Confirm budget scale and location mapping before reporting achievement to management.</a:t>
            </a:r>
            <a:endParaRPr lang="en-US" sz="115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6537960"/>
            <a:ext cx="111556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94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7266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Findings and recommendations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1C2F4F"/>
          </a:solidFill>
          <a:ln w="12700">
            <a:solidFill>
              <a:srgbClr val="1C2F4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58368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745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Stable 32.5% margin in every year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No customer dependency: top 10 = 5.4%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All 74 locations and 45 reps sell consistently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1C2F4F"/>
          </a:solidFill>
          <a:ln w="12700">
            <a:solidFill>
              <a:srgbClr val="1C2F4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447288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Concerns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18745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Sales flat: 2022 was −1.1% vs 2021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15 products below 20% margin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Budget data does not reconcile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1C2F4F"/>
          </a:solidFill>
          <a:ln w="12700">
            <a:solidFill>
              <a:srgbClr val="1C2F4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236208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18745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Reprice or re-cost Products 84, 66 and 4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Push growth in LA, San Diego and San Jose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Fix budget master data; run a Jul–Aug promotion</a:t>
            </a:r>
            <a:endParaRPr lang="en-US" sz="13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6537960"/>
            <a:ext cx="111556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194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1089</Words>
  <Application>Microsoft Office PowerPoint</Application>
  <PresentationFormat>On-screen Show (16:9)</PresentationFormat>
  <Paragraphs>159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Performance &amp; Budget Intelligence Dashboard</dc:title>
  <dc:subject>PptxGenJS Presentation</dc:subject>
  <dc:creator>PptxGenJS</dc:creator>
  <cp:lastModifiedBy>CHINDANUR NAKUL SRIRAJ</cp:lastModifiedBy>
  <cp:revision>2</cp:revision>
  <dcterms:created xsi:type="dcterms:W3CDTF">2026-09-28T12:49:03Z</dcterms:created>
  <dcterms:modified xsi:type="dcterms:W3CDTF">2026-09-28T12:52:04Z</dcterms:modified>
</cp:coreProperties>
</file>